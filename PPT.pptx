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Open Sauce Medium" charset="1" panose="00000600000000000000"/>
      <p:regular r:id="rId16"/>
    </p:embeddedFont>
    <p:embeddedFont>
      <p:font typeface="Open Sauce Bold" charset="1" panose="00000800000000000000"/>
      <p:regular r:id="rId17"/>
    </p:embeddedFont>
    <p:embeddedFont>
      <p:font typeface="Arial MT Pro" charset="1" panose="020B0502020202020204"/>
      <p:regular r:id="rId18"/>
    </p:embeddedFont>
    <p:embeddedFont>
      <p:font typeface="Arial MT Pro Bold" charset="1" panose="020B08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https://dampak-aigenerative-mahasiswa.streamlit.app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36" t="-21857" r="-7540" b="-142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2043430"/>
            <a:ext cx="11067414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35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Evaluasi Dampak AI Generatif terhadap Performa Akademik &amp; Kesejahteraan Mental Mahasiswa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8628116"/>
            <a:ext cx="6362206" cy="594180"/>
            <a:chOff x="0" y="0"/>
            <a:chExt cx="8482942" cy="79224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253879" cy="792240"/>
              <a:chOff x="0" y="0"/>
              <a:chExt cx="2310803" cy="221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10803" cy="221800"/>
              </a:xfrm>
              <a:custGeom>
                <a:avLst/>
                <a:gdLst/>
                <a:ahLst/>
                <a:cxnLst/>
                <a:rect r="r" b="b" t="t" l="l"/>
                <a:pathLst>
                  <a:path h="221800" w="2310803">
                    <a:moveTo>
                      <a:pt x="82542" y="0"/>
                    </a:moveTo>
                    <a:lnTo>
                      <a:pt x="2228261" y="0"/>
                    </a:lnTo>
                    <a:cubicBezTo>
                      <a:pt x="2250153" y="0"/>
                      <a:pt x="2271148" y="8696"/>
                      <a:pt x="2286627" y="24176"/>
                    </a:cubicBezTo>
                    <a:cubicBezTo>
                      <a:pt x="2302107" y="39655"/>
                      <a:pt x="2310803" y="60650"/>
                      <a:pt x="2310803" y="82542"/>
                    </a:cubicBezTo>
                    <a:lnTo>
                      <a:pt x="2310803" y="139258"/>
                    </a:lnTo>
                    <a:cubicBezTo>
                      <a:pt x="2310803" y="161150"/>
                      <a:pt x="2302107" y="182145"/>
                      <a:pt x="2286627" y="197624"/>
                    </a:cubicBezTo>
                    <a:cubicBezTo>
                      <a:pt x="2271148" y="213104"/>
                      <a:pt x="2250153" y="221800"/>
                      <a:pt x="2228261" y="221800"/>
                    </a:cubicBezTo>
                    <a:lnTo>
                      <a:pt x="82542" y="221800"/>
                    </a:lnTo>
                    <a:cubicBezTo>
                      <a:pt x="36955" y="221800"/>
                      <a:pt x="0" y="184845"/>
                      <a:pt x="0" y="139258"/>
                    </a:cubicBezTo>
                    <a:lnTo>
                      <a:pt x="0" y="82542"/>
                    </a:lnTo>
                    <a:cubicBezTo>
                      <a:pt x="0" y="60650"/>
                      <a:pt x="8696" y="39655"/>
                      <a:pt x="24176" y="24176"/>
                    </a:cubicBezTo>
                    <a:cubicBezTo>
                      <a:pt x="39655" y="8696"/>
                      <a:pt x="60650" y="0"/>
                      <a:pt x="82542" y="0"/>
                    </a:cubicBezTo>
                    <a:close/>
                  </a:path>
                </a:pathLst>
              </a:custGeom>
              <a:solidFill>
                <a:srgbClr val="033A7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10803" cy="259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91650"/>
              <a:ext cx="8482942" cy="48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19"/>
                </a:lnSpc>
              </a:pPr>
              <a:r>
                <a:rPr lang="en-US" sz="2799" spc="-167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Han</a:t>
              </a:r>
              <a:r>
                <a:rPr lang="en-US" sz="2799" spc="-167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ifah Syahidah (G6401231067)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46318" y="8670892"/>
            <a:ext cx="5257428" cy="587408"/>
            <a:chOff x="0" y="0"/>
            <a:chExt cx="1962533" cy="219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2533" cy="219272"/>
            </a:xfrm>
            <a:custGeom>
              <a:avLst/>
              <a:gdLst/>
              <a:ahLst/>
              <a:cxnLst/>
              <a:rect r="r" b="b" t="t" l="l"/>
              <a:pathLst>
                <a:path h="219272" w="1962533">
                  <a:moveTo>
                    <a:pt x="97189" y="0"/>
                  </a:moveTo>
                  <a:lnTo>
                    <a:pt x="1865344" y="0"/>
                  </a:lnTo>
                  <a:cubicBezTo>
                    <a:pt x="1891120" y="0"/>
                    <a:pt x="1915840" y="10240"/>
                    <a:pt x="1934067" y="28466"/>
                  </a:cubicBezTo>
                  <a:cubicBezTo>
                    <a:pt x="1952293" y="46693"/>
                    <a:pt x="1962533" y="71413"/>
                    <a:pt x="1962533" y="97189"/>
                  </a:cubicBezTo>
                  <a:lnTo>
                    <a:pt x="1962533" y="122083"/>
                  </a:lnTo>
                  <a:cubicBezTo>
                    <a:pt x="1962533" y="147859"/>
                    <a:pt x="1952293" y="172580"/>
                    <a:pt x="1934067" y="190806"/>
                  </a:cubicBezTo>
                  <a:cubicBezTo>
                    <a:pt x="1915840" y="209033"/>
                    <a:pt x="1891120" y="219272"/>
                    <a:pt x="1865344" y="219272"/>
                  </a:cubicBezTo>
                  <a:lnTo>
                    <a:pt x="97189" y="219272"/>
                  </a:lnTo>
                  <a:cubicBezTo>
                    <a:pt x="71413" y="219272"/>
                    <a:pt x="46693" y="209033"/>
                    <a:pt x="28466" y="190806"/>
                  </a:cubicBezTo>
                  <a:cubicBezTo>
                    <a:pt x="10240" y="172580"/>
                    <a:pt x="0" y="147859"/>
                    <a:pt x="0" y="122083"/>
                  </a:cubicBezTo>
                  <a:lnTo>
                    <a:pt x="0" y="97189"/>
                  </a:lnTo>
                  <a:cubicBezTo>
                    <a:pt x="0" y="71413"/>
                    <a:pt x="10240" y="46693"/>
                    <a:pt x="28466" y="28466"/>
                  </a:cubicBezTo>
                  <a:cubicBezTo>
                    <a:pt x="46693" y="10240"/>
                    <a:pt x="71413" y="0"/>
                    <a:pt x="9718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62533" cy="257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521059" y="8836961"/>
            <a:ext cx="610794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0"/>
              </a:lnSpc>
            </a:pPr>
            <a:r>
              <a:rPr lang="en-US" sz="2700" spc="-162">
                <a:solidFill>
                  <a:srgbClr val="86B9F5"/>
                </a:solidFill>
                <a:latin typeface="Garet"/>
                <a:ea typeface="Garet"/>
                <a:cs typeface="Garet"/>
                <a:sym typeface="Garet"/>
              </a:rPr>
              <a:t>Ilm</a:t>
            </a:r>
            <a:r>
              <a:rPr lang="en-US" sz="2700" spc="-162">
                <a:solidFill>
                  <a:srgbClr val="86B9F5"/>
                </a:solidFill>
                <a:latin typeface="Garet"/>
                <a:ea typeface="Garet"/>
                <a:cs typeface="Garet"/>
                <a:sym typeface="Garet"/>
              </a:rPr>
              <a:t>u Komputer, IPB University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046409"/>
            <a:ext cx="725394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86B9F5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 Analyst – LSP TIK Global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8682" r="-51459" b="-609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42312" y="2646477"/>
            <a:ext cx="12003377" cy="3974518"/>
            <a:chOff x="0" y="0"/>
            <a:chExt cx="16004502" cy="529935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6094353" y="200607"/>
              <a:ext cx="3899828" cy="5098751"/>
              <a:chOff x="0" y="0"/>
              <a:chExt cx="1331880" cy="174133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31880" cy="1741339"/>
              </a:xfrm>
              <a:custGeom>
                <a:avLst/>
                <a:gdLst/>
                <a:ahLst/>
                <a:cxnLst/>
                <a:rect r="r" b="b" t="t" l="l"/>
                <a:pathLst>
                  <a:path h="1741339" w="1331880">
                    <a:moveTo>
                      <a:pt x="76778" y="0"/>
                    </a:moveTo>
                    <a:lnTo>
                      <a:pt x="1255102" y="0"/>
                    </a:lnTo>
                    <a:cubicBezTo>
                      <a:pt x="1297505" y="0"/>
                      <a:pt x="1331880" y="34375"/>
                      <a:pt x="1331880" y="76778"/>
                    </a:cubicBezTo>
                    <a:lnTo>
                      <a:pt x="1331880" y="1664561"/>
                    </a:lnTo>
                    <a:cubicBezTo>
                      <a:pt x="1331880" y="1684924"/>
                      <a:pt x="1323791" y="1704453"/>
                      <a:pt x="1309392" y="1718851"/>
                    </a:cubicBezTo>
                    <a:cubicBezTo>
                      <a:pt x="1294994" y="1733250"/>
                      <a:pt x="1275465" y="1741339"/>
                      <a:pt x="1255102" y="1741339"/>
                    </a:cubicBezTo>
                    <a:lnTo>
                      <a:pt x="76778" y="1741339"/>
                    </a:lnTo>
                    <a:cubicBezTo>
                      <a:pt x="56415" y="1741339"/>
                      <a:pt x="36886" y="1733250"/>
                      <a:pt x="22488" y="1718851"/>
                    </a:cubicBezTo>
                    <a:cubicBezTo>
                      <a:pt x="8089" y="1704453"/>
                      <a:pt x="0" y="1684924"/>
                      <a:pt x="0" y="1664561"/>
                    </a:cubicBezTo>
                    <a:lnTo>
                      <a:pt x="0" y="76778"/>
                    </a:lnTo>
                    <a:cubicBezTo>
                      <a:pt x="0" y="56415"/>
                      <a:pt x="8089" y="36886"/>
                      <a:pt x="22488" y="22488"/>
                    </a:cubicBezTo>
                    <a:cubicBezTo>
                      <a:pt x="36886" y="8089"/>
                      <a:pt x="56415" y="0"/>
                      <a:pt x="76778" y="0"/>
                    </a:cubicBezTo>
                    <a:close/>
                  </a:path>
                </a:pathLst>
              </a:custGeom>
              <a:solidFill>
                <a:srgbClr val="86B9F5"/>
              </a:solidFill>
              <a:ln w="3810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331880" cy="1779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7421987" y="760876"/>
              <a:ext cx="1717616" cy="1730200"/>
            </a:xfrm>
            <a:custGeom>
              <a:avLst/>
              <a:gdLst/>
              <a:ahLst/>
              <a:cxnLst/>
              <a:rect r="r" b="b" t="t" l="l"/>
              <a:pathLst>
                <a:path h="1730200" w="1717616">
                  <a:moveTo>
                    <a:pt x="0" y="0"/>
                  </a:moveTo>
                  <a:lnTo>
                    <a:pt x="1717616" y="0"/>
                  </a:lnTo>
                  <a:lnTo>
                    <a:pt x="1717616" y="1730199"/>
                  </a:lnTo>
                  <a:lnTo>
                    <a:pt x="0" y="173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-1350544">
              <a:off x="5503303" y="992164"/>
              <a:ext cx="3218855" cy="1325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34"/>
                </a:lnSpc>
              </a:pPr>
              <a:r>
                <a:rPr lang="en-US" b="true" sz="7704" spc="-46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-865148">
              <a:off x="5806410" y="601292"/>
              <a:ext cx="3218855" cy="1325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34"/>
                </a:lnSpc>
              </a:pPr>
              <a:r>
                <a:rPr lang="en-US" b="true" sz="7704" spc="-46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?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434839" y="2752538"/>
              <a:ext cx="3218855" cy="575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6"/>
                </a:lnSpc>
              </a:pPr>
              <a:r>
                <a:rPr lang="en-US" b="true" sz="3263" spc="-195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Dilema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434839" y="3433467"/>
              <a:ext cx="3218855" cy="149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8"/>
                </a:lnSpc>
              </a:pPr>
              <a:r>
                <a:rPr lang="en-US" sz="1631" spc="-4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me</a:t>
              </a:r>
              <a:r>
                <a:rPr lang="en-US" sz="1631" spc="-4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manfaatkan efisiensi AI vs ancaman penurunan daya pikir mandiri (cognitive offloading).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200607"/>
              <a:ext cx="3899828" cy="5098751"/>
              <a:chOff x="0" y="0"/>
              <a:chExt cx="1331880" cy="17413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31880" cy="1741339"/>
              </a:xfrm>
              <a:custGeom>
                <a:avLst/>
                <a:gdLst/>
                <a:ahLst/>
                <a:cxnLst/>
                <a:rect r="r" b="b" t="t" l="l"/>
                <a:pathLst>
                  <a:path h="1741339" w="1331880">
                    <a:moveTo>
                      <a:pt x="76778" y="0"/>
                    </a:moveTo>
                    <a:lnTo>
                      <a:pt x="1255102" y="0"/>
                    </a:lnTo>
                    <a:cubicBezTo>
                      <a:pt x="1297505" y="0"/>
                      <a:pt x="1331880" y="34375"/>
                      <a:pt x="1331880" y="76778"/>
                    </a:cubicBezTo>
                    <a:lnTo>
                      <a:pt x="1331880" y="1664561"/>
                    </a:lnTo>
                    <a:cubicBezTo>
                      <a:pt x="1331880" y="1684924"/>
                      <a:pt x="1323791" y="1704453"/>
                      <a:pt x="1309392" y="1718851"/>
                    </a:cubicBezTo>
                    <a:cubicBezTo>
                      <a:pt x="1294994" y="1733250"/>
                      <a:pt x="1275465" y="1741339"/>
                      <a:pt x="1255102" y="1741339"/>
                    </a:cubicBezTo>
                    <a:lnTo>
                      <a:pt x="76778" y="1741339"/>
                    </a:lnTo>
                    <a:cubicBezTo>
                      <a:pt x="56415" y="1741339"/>
                      <a:pt x="36886" y="1733250"/>
                      <a:pt x="22488" y="1718851"/>
                    </a:cubicBezTo>
                    <a:cubicBezTo>
                      <a:pt x="8089" y="1704453"/>
                      <a:pt x="0" y="1684924"/>
                      <a:pt x="0" y="1664561"/>
                    </a:cubicBezTo>
                    <a:lnTo>
                      <a:pt x="0" y="76778"/>
                    </a:lnTo>
                    <a:cubicBezTo>
                      <a:pt x="0" y="56415"/>
                      <a:pt x="8089" y="36886"/>
                      <a:pt x="22488" y="22488"/>
                    </a:cubicBezTo>
                    <a:cubicBezTo>
                      <a:pt x="36886" y="8089"/>
                      <a:pt x="56415" y="0"/>
                      <a:pt x="76778" y="0"/>
                    </a:cubicBezTo>
                    <a:close/>
                  </a:path>
                </a:pathLst>
              </a:custGeom>
              <a:solidFill>
                <a:srgbClr val="86B9F5"/>
              </a:solidFill>
              <a:ln w="3810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31880" cy="1779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141276" y="587350"/>
              <a:ext cx="1617276" cy="1617276"/>
            </a:xfrm>
            <a:custGeom>
              <a:avLst/>
              <a:gdLst/>
              <a:ahLst/>
              <a:cxnLst/>
              <a:rect r="r" b="b" t="t" l="l"/>
              <a:pathLst>
                <a:path h="1617276" w="1617276">
                  <a:moveTo>
                    <a:pt x="0" y="0"/>
                  </a:moveTo>
                  <a:lnTo>
                    <a:pt x="1617276" y="0"/>
                  </a:lnTo>
                  <a:lnTo>
                    <a:pt x="1617276" y="1617276"/>
                  </a:lnTo>
                  <a:lnTo>
                    <a:pt x="0" y="1617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40486" y="3812975"/>
              <a:ext cx="3218855" cy="1127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8"/>
                </a:lnSpc>
              </a:pPr>
              <a:r>
                <a:rPr lang="en-US" sz="1631" spc="-4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masif dan terjadi di semua jenjang kematangan studi akademik mahasiswa.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40486" y="2505032"/>
              <a:ext cx="3218855" cy="1070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6"/>
                </a:lnSpc>
              </a:pPr>
              <a:r>
                <a:rPr lang="en-US" b="true" sz="3263" spc="-195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AI Generative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12104674" y="200607"/>
              <a:ext cx="3899828" cy="5098751"/>
              <a:chOff x="0" y="0"/>
              <a:chExt cx="1331880" cy="174133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31880" cy="1741339"/>
              </a:xfrm>
              <a:custGeom>
                <a:avLst/>
                <a:gdLst/>
                <a:ahLst/>
                <a:cxnLst/>
                <a:rect r="r" b="b" t="t" l="l"/>
                <a:pathLst>
                  <a:path h="1741339" w="1331880">
                    <a:moveTo>
                      <a:pt x="76778" y="0"/>
                    </a:moveTo>
                    <a:lnTo>
                      <a:pt x="1255102" y="0"/>
                    </a:lnTo>
                    <a:cubicBezTo>
                      <a:pt x="1297505" y="0"/>
                      <a:pt x="1331880" y="34375"/>
                      <a:pt x="1331880" y="76778"/>
                    </a:cubicBezTo>
                    <a:lnTo>
                      <a:pt x="1331880" y="1664561"/>
                    </a:lnTo>
                    <a:cubicBezTo>
                      <a:pt x="1331880" y="1684924"/>
                      <a:pt x="1323791" y="1704453"/>
                      <a:pt x="1309392" y="1718851"/>
                    </a:cubicBezTo>
                    <a:cubicBezTo>
                      <a:pt x="1294994" y="1733250"/>
                      <a:pt x="1275465" y="1741339"/>
                      <a:pt x="1255102" y="1741339"/>
                    </a:cubicBezTo>
                    <a:lnTo>
                      <a:pt x="76778" y="1741339"/>
                    </a:lnTo>
                    <a:cubicBezTo>
                      <a:pt x="56415" y="1741339"/>
                      <a:pt x="36886" y="1733250"/>
                      <a:pt x="22488" y="1718851"/>
                    </a:cubicBezTo>
                    <a:cubicBezTo>
                      <a:pt x="8089" y="1704453"/>
                      <a:pt x="0" y="1684924"/>
                      <a:pt x="0" y="1664561"/>
                    </a:cubicBezTo>
                    <a:lnTo>
                      <a:pt x="0" y="76778"/>
                    </a:lnTo>
                    <a:cubicBezTo>
                      <a:pt x="0" y="56415"/>
                      <a:pt x="8089" y="36886"/>
                      <a:pt x="22488" y="22488"/>
                    </a:cubicBezTo>
                    <a:cubicBezTo>
                      <a:pt x="36886" y="8089"/>
                      <a:pt x="56415" y="0"/>
                      <a:pt x="76778" y="0"/>
                    </a:cubicBezTo>
                    <a:close/>
                  </a:path>
                </a:pathLst>
              </a:custGeom>
              <a:solidFill>
                <a:srgbClr val="86B9F5"/>
              </a:solidFill>
              <a:ln w="3810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331880" cy="1779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3247754" y="750734"/>
              <a:ext cx="1613669" cy="1868459"/>
            </a:xfrm>
            <a:custGeom>
              <a:avLst/>
              <a:gdLst/>
              <a:ahLst/>
              <a:cxnLst/>
              <a:rect r="r" b="b" t="t" l="l"/>
              <a:pathLst>
                <a:path h="1868459" w="1613669">
                  <a:moveTo>
                    <a:pt x="0" y="0"/>
                  </a:moveTo>
                  <a:lnTo>
                    <a:pt x="1613668" y="0"/>
                  </a:lnTo>
                  <a:lnTo>
                    <a:pt x="1613668" y="1868459"/>
                  </a:lnTo>
                  <a:lnTo>
                    <a:pt x="0" y="1868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2307098" y="2835708"/>
              <a:ext cx="3494980" cy="575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6"/>
                </a:lnSpc>
              </a:pPr>
              <a:r>
                <a:rPr lang="en-US" b="true" sz="3263" spc="-195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Mental health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2445160" y="3433467"/>
              <a:ext cx="3218855" cy="149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8"/>
                </a:lnSpc>
              </a:pPr>
              <a:r>
                <a:rPr lang="en-US" sz="1631" spc="-4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terjadi krisi pada mahasiswa akibat tekanan digital (Tingkat Burnout dan Kecemasan yang tinggi)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10661" y="7558408"/>
            <a:ext cx="1963381" cy="11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sz="3199" spc="-7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Tujuan Analisis 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123558"/>
            <a:ext cx="13354054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8000" spc="-48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Latar Belakang Masalah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74042" y="7569170"/>
            <a:ext cx="12900686" cy="1117898"/>
            <a:chOff x="0" y="0"/>
            <a:chExt cx="4815666" cy="4172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15666" cy="417297"/>
            </a:xfrm>
            <a:custGeom>
              <a:avLst/>
              <a:gdLst/>
              <a:ahLst/>
              <a:cxnLst/>
              <a:rect r="r" b="b" t="t" l="l"/>
              <a:pathLst>
                <a:path h="417297" w="4815666">
                  <a:moveTo>
                    <a:pt x="39608" y="0"/>
                  </a:moveTo>
                  <a:lnTo>
                    <a:pt x="4776058" y="0"/>
                  </a:lnTo>
                  <a:cubicBezTo>
                    <a:pt x="4797933" y="0"/>
                    <a:pt x="4815666" y="17733"/>
                    <a:pt x="4815666" y="39608"/>
                  </a:cubicBezTo>
                  <a:lnTo>
                    <a:pt x="4815666" y="377690"/>
                  </a:lnTo>
                  <a:cubicBezTo>
                    <a:pt x="4815666" y="388194"/>
                    <a:pt x="4811493" y="398269"/>
                    <a:pt x="4804065" y="405697"/>
                  </a:cubicBezTo>
                  <a:cubicBezTo>
                    <a:pt x="4796637" y="413124"/>
                    <a:pt x="4786563" y="417297"/>
                    <a:pt x="4776058" y="417297"/>
                  </a:cubicBezTo>
                  <a:lnTo>
                    <a:pt x="39608" y="417297"/>
                  </a:lnTo>
                  <a:cubicBezTo>
                    <a:pt x="29103" y="417297"/>
                    <a:pt x="19029" y="413124"/>
                    <a:pt x="11601" y="405697"/>
                  </a:cubicBezTo>
                  <a:cubicBezTo>
                    <a:pt x="4173" y="398269"/>
                    <a:pt x="0" y="388194"/>
                    <a:pt x="0" y="377690"/>
                  </a:cubicBezTo>
                  <a:lnTo>
                    <a:pt x="0" y="39608"/>
                  </a:lnTo>
                  <a:cubicBezTo>
                    <a:pt x="0" y="29103"/>
                    <a:pt x="4173" y="19029"/>
                    <a:pt x="11601" y="11601"/>
                  </a:cubicBezTo>
                  <a:cubicBezTo>
                    <a:pt x="19029" y="4173"/>
                    <a:pt x="29103" y="0"/>
                    <a:pt x="39608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15666" cy="455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967007" y="7667628"/>
            <a:ext cx="12710332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99" spc="-6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Mengevaluasi dampak penggunaan AI terhadap performa akademik dan kesejahteraan mental, guna merumuskan intervensi kebijakan kampus yang tepat sasaran berbasis data.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18682" r="-51459" b="-609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2737661"/>
            <a:ext cx="11301259" cy="4237972"/>
          </a:xfrm>
          <a:custGeom>
            <a:avLst/>
            <a:gdLst/>
            <a:ahLst/>
            <a:cxnLst/>
            <a:rect r="r" b="b" t="t" l="l"/>
            <a:pathLst>
              <a:path h="4237972" w="11301259">
                <a:moveTo>
                  <a:pt x="0" y="0"/>
                </a:moveTo>
                <a:lnTo>
                  <a:pt x="11301258" y="0"/>
                </a:lnTo>
                <a:lnTo>
                  <a:pt x="11301258" y="4237972"/>
                </a:lnTo>
                <a:lnTo>
                  <a:pt x="0" y="4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C8C8C8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464997"/>
            <a:ext cx="13851496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8000" spc="-48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Paradoks Intensitas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63298" y="7448310"/>
            <a:ext cx="10761405" cy="1787635"/>
            <a:chOff x="0" y="0"/>
            <a:chExt cx="14348540" cy="23835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4348540" cy="2383514"/>
              <a:chOff x="0" y="0"/>
              <a:chExt cx="4017099" cy="66730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17099" cy="667302"/>
              </a:xfrm>
              <a:custGeom>
                <a:avLst/>
                <a:gdLst/>
                <a:ahLst/>
                <a:cxnLst/>
                <a:rect r="r" b="b" t="t" l="l"/>
                <a:pathLst>
                  <a:path h="667302" w="4017099">
                    <a:moveTo>
                      <a:pt x="23741" y="0"/>
                    </a:moveTo>
                    <a:lnTo>
                      <a:pt x="3993358" y="0"/>
                    </a:lnTo>
                    <a:cubicBezTo>
                      <a:pt x="3999655" y="0"/>
                      <a:pt x="4005693" y="2501"/>
                      <a:pt x="4010146" y="6953"/>
                    </a:cubicBezTo>
                    <a:cubicBezTo>
                      <a:pt x="4014598" y="11406"/>
                      <a:pt x="4017099" y="17444"/>
                      <a:pt x="4017099" y="23741"/>
                    </a:cubicBezTo>
                    <a:lnTo>
                      <a:pt x="4017099" y="643561"/>
                    </a:lnTo>
                    <a:cubicBezTo>
                      <a:pt x="4017099" y="656673"/>
                      <a:pt x="4006470" y="667302"/>
                      <a:pt x="3993358" y="667302"/>
                    </a:cubicBezTo>
                    <a:lnTo>
                      <a:pt x="23741" y="667302"/>
                    </a:lnTo>
                    <a:cubicBezTo>
                      <a:pt x="10629" y="667302"/>
                      <a:pt x="0" y="656673"/>
                      <a:pt x="0" y="643561"/>
                    </a:cubicBezTo>
                    <a:lnTo>
                      <a:pt x="0" y="23741"/>
                    </a:lnTo>
                    <a:cubicBezTo>
                      <a:pt x="0" y="10629"/>
                      <a:pt x="10629" y="0"/>
                      <a:pt x="23741" y="0"/>
                    </a:cubicBezTo>
                    <a:close/>
                  </a:path>
                </a:pathLst>
              </a:custGeom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017099" cy="7054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10292" y="178805"/>
              <a:ext cx="13527957" cy="1949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855"/>
                </a:lnSpc>
                <a:buFont typeface="Arial"/>
                <a:buChar char="•"/>
              </a:pPr>
              <a:r>
                <a:rPr lang="en-US" sz="2099" spc="-5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</a:t>
              </a:r>
              <a:r>
                <a:rPr lang="en-US" sz="2099" spc="-5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enggunaan AI tidak selalu berbanding lurus dengan nilai (IPK).</a:t>
              </a:r>
            </a:p>
            <a:p>
              <a:pPr algn="l" marL="453388" indent="-226694" lvl="1">
                <a:lnSpc>
                  <a:spcPts val="2855"/>
                </a:lnSpc>
                <a:buFont typeface="Arial"/>
                <a:buChar char="•"/>
              </a:pPr>
              <a:r>
                <a:rPr lang="en-US" sz="2099" spc="-5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Moderate User (5-15 jam/minggu) mendapat peningkatan IPK tertinggi (+0.227).</a:t>
              </a:r>
            </a:p>
            <a:p>
              <a:pPr algn="l" marL="453388" indent="-226694" lvl="1">
                <a:lnSpc>
                  <a:spcPts val="2855"/>
                </a:lnSpc>
                <a:buFont typeface="Arial"/>
                <a:buChar char="•"/>
              </a:pPr>
              <a:r>
                <a:rPr lang="en-US" sz="2099" spc="-5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Light User (0-5 jam/minggu) mencatatkan peningkatan IPK yang stabil (+0,195)</a:t>
              </a:r>
            </a:p>
            <a:p>
              <a:pPr algn="l" marL="453388" indent="-226694" lvl="1">
                <a:lnSpc>
                  <a:spcPts val="2855"/>
                </a:lnSpc>
                <a:buFont typeface="Arial"/>
                <a:buChar char="•"/>
              </a:pPr>
              <a:r>
                <a:rPr lang="en-US" sz="2099" spc="-5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Heavy User (&gt;15 jam/minggu) mengalami diminishing returns (peningkatan terendah).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62" t="-21857" r="-7540" b="-4398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89578" y="3146936"/>
            <a:ext cx="9308845" cy="4375157"/>
          </a:xfrm>
          <a:custGeom>
            <a:avLst/>
            <a:gdLst/>
            <a:ahLst/>
            <a:cxnLst/>
            <a:rect r="r" b="b" t="t" l="l"/>
            <a:pathLst>
              <a:path h="4375157" w="9308845">
                <a:moveTo>
                  <a:pt x="0" y="0"/>
                </a:moveTo>
                <a:lnTo>
                  <a:pt x="9308844" y="0"/>
                </a:lnTo>
                <a:lnTo>
                  <a:pt x="9308844" y="4375157"/>
                </a:lnTo>
                <a:lnTo>
                  <a:pt x="0" y="4375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C8C8C8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436422"/>
            <a:ext cx="1385149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4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Ancaman Ketergantungan terhadap Retensi Skill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63298" y="7693543"/>
            <a:ext cx="10761405" cy="2149585"/>
            <a:chOff x="0" y="0"/>
            <a:chExt cx="4017099" cy="802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17099" cy="802413"/>
            </a:xfrm>
            <a:custGeom>
              <a:avLst/>
              <a:gdLst/>
              <a:ahLst/>
              <a:cxnLst/>
              <a:rect r="r" b="b" t="t" l="l"/>
              <a:pathLst>
                <a:path h="802413" w="4017099">
                  <a:moveTo>
                    <a:pt x="23741" y="0"/>
                  </a:moveTo>
                  <a:lnTo>
                    <a:pt x="3993358" y="0"/>
                  </a:lnTo>
                  <a:cubicBezTo>
                    <a:pt x="3999655" y="0"/>
                    <a:pt x="4005693" y="2501"/>
                    <a:pt x="4010146" y="6953"/>
                  </a:cubicBezTo>
                  <a:cubicBezTo>
                    <a:pt x="4014598" y="11406"/>
                    <a:pt x="4017099" y="17444"/>
                    <a:pt x="4017099" y="23741"/>
                  </a:cubicBezTo>
                  <a:lnTo>
                    <a:pt x="4017099" y="778673"/>
                  </a:lnTo>
                  <a:cubicBezTo>
                    <a:pt x="4017099" y="791784"/>
                    <a:pt x="4006470" y="802413"/>
                    <a:pt x="3993358" y="802413"/>
                  </a:cubicBezTo>
                  <a:lnTo>
                    <a:pt x="23741" y="802413"/>
                  </a:lnTo>
                  <a:cubicBezTo>
                    <a:pt x="10629" y="802413"/>
                    <a:pt x="0" y="791784"/>
                    <a:pt x="0" y="778673"/>
                  </a:cubicBezTo>
                  <a:lnTo>
                    <a:pt x="0" y="23741"/>
                  </a:lnTo>
                  <a:cubicBezTo>
                    <a:pt x="0" y="10629"/>
                    <a:pt x="10629" y="0"/>
                    <a:pt x="237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17099" cy="840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1016" y="7808597"/>
            <a:ext cx="10145967" cy="1843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855"/>
              </a:lnSpc>
              <a:buFont typeface="Arial"/>
              <a:buChar char="•"/>
            </a:pPr>
            <a:r>
              <a:rPr lang="en-US" sz="2099" spc="-5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Kor</a:t>
            </a:r>
            <a:r>
              <a:rPr lang="en-US" sz="2099" spc="-5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elasi negatif: Semakin tinggi ketergantungan pada AI, tren retensi keterampilan menurun.</a:t>
            </a:r>
          </a:p>
          <a:p>
            <a:pPr algn="l" marL="453388" indent="-226694" lvl="1">
              <a:lnSpc>
                <a:spcPts val="2855"/>
              </a:lnSpc>
              <a:buFont typeface="Arial"/>
              <a:buChar char="•"/>
            </a:pPr>
            <a:r>
              <a:rPr lang="en-US" sz="2099" spc="-5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Munculnya pencilan (outliers) skor di bawah 40/100 pada mahasiswa dengan ketergantungan ekstrem.</a:t>
            </a:r>
          </a:p>
          <a:p>
            <a:pPr algn="l" marL="453388" indent="-226694" lvl="1">
              <a:lnSpc>
                <a:spcPts val="2855"/>
              </a:lnSpc>
              <a:buFont typeface="Arial"/>
              <a:buChar char="•"/>
            </a:pPr>
            <a:r>
              <a:rPr lang="en-US" sz="2099" spc="-5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Risiko jangka panjang: Keterampilan dasar dan analitis terkikis (over-reliance).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25673" r="-58193" b="-619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5399" y="4104300"/>
            <a:ext cx="3144261" cy="2662820"/>
            <a:chOff x="0" y="0"/>
            <a:chExt cx="4192348" cy="355042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192348" cy="3550427"/>
              <a:chOff x="0" y="0"/>
              <a:chExt cx="905879" cy="76717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05879" cy="767173"/>
              </a:xfrm>
              <a:custGeom>
                <a:avLst/>
                <a:gdLst/>
                <a:ahLst/>
                <a:cxnLst/>
                <a:rect r="r" b="b" t="t" l="l"/>
                <a:pathLst>
                  <a:path h="767173" w="905879">
                    <a:moveTo>
                      <a:pt x="78792" y="0"/>
                    </a:moveTo>
                    <a:lnTo>
                      <a:pt x="827088" y="0"/>
                    </a:lnTo>
                    <a:cubicBezTo>
                      <a:pt x="870603" y="0"/>
                      <a:pt x="905879" y="35276"/>
                      <a:pt x="905879" y="78792"/>
                    </a:cubicBezTo>
                    <a:lnTo>
                      <a:pt x="905879" y="688382"/>
                    </a:lnTo>
                    <a:cubicBezTo>
                      <a:pt x="905879" y="731897"/>
                      <a:pt x="870603" y="767173"/>
                      <a:pt x="827088" y="767173"/>
                    </a:cubicBezTo>
                    <a:lnTo>
                      <a:pt x="78792" y="767173"/>
                    </a:lnTo>
                    <a:cubicBezTo>
                      <a:pt x="35276" y="767173"/>
                      <a:pt x="0" y="731897"/>
                      <a:pt x="0" y="688382"/>
                    </a:cubicBezTo>
                    <a:lnTo>
                      <a:pt x="0" y="78792"/>
                    </a:lnTo>
                    <a:cubicBezTo>
                      <a:pt x="0" y="35276"/>
                      <a:pt x="35276" y="0"/>
                      <a:pt x="78792" y="0"/>
                    </a:cubicBezTo>
                    <a:close/>
                  </a:path>
                </a:pathLst>
              </a:custGeom>
              <a:solidFill>
                <a:srgbClr val="86B9F5"/>
              </a:solidFill>
              <a:ln w="3810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05879" cy="805273"/>
              </a:xfrm>
              <a:prstGeom prst="rect">
                <a:avLst/>
              </a:prstGeom>
            </p:spPr>
            <p:txBody>
              <a:bodyPr anchor="ctr" rtlCol="false" tIns="46439" lIns="46439" bIns="46439" rIns="4643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496614" y="1288533"/>
              <a:ext cx="2882892" cy="12196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496614" y="1404481"/>
              <a:ext cx="3379506" cy="1850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2000" spc="-5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</a:t>
              </a:r>
              <a:r>
                <a:rPr lang="en-US" sz="2000" spc="-5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ingkat kecemasan ujian lebih tinggi (Kuartil atas menyentuh skor 7.0).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70798" y="600017"/>
              <a:ext cx="3505322" cy="580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1"/>
                </a:lnSpc>
              </a:pPr>
              <a:r>
                <a:rPr lang="en-US" b="true" sz="3290" spc="-19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5399" y="6900470"/>
            <a:ext cx="3144261" cy="2061907"/>
            <a:chOff x="0" y="0"/>
            <a:chExt cx="905879" cy="5940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879" cy="594047"/>
            </a:xfrm>
            <a:custGeom>
              <a:avLst/>
              <a:gdLst/>
              <a:ahLst/>
              <a:cxnLst/>
              <a:rect r="r" b="b" t="t" l="l"/>
              <a:pathLst>
                <a:path h="594047" w="905879">
                  <a:moveTo>
                    <a:pt x="78792" y="0"/>
                  </a:moveTo>
                  <a:lnTo>
                    <a:pt x="827088" y="0"/>
                  </a:lnTo>
                  <a:cubicBezTo>
                    <a:pt x="870603" y="0"/>
                    <a:pt x="905879" y="35276"/>
                    <a:pt x="905879" y="78792"/>
                  </a:cubicBezTo>
                  <a:lnTo>
                    <a:pt x="905879" y="515255"/>
                  </a:lnTo>
                  <a:cubicBezTo>
                    <a:pt x="905879" y="558771"/>
                    <a:pt x="870603" y="594047"/>
                    <a:pt x="827088" y="594047"/>
                  </a:cubicBezTo>
                  <a:lnTo>
                    <a:pt x="78792" y="594047"/>
                  </a:lnTo>
                  <a:cubicBezTo>
                    <a:pt x="35276" y="594047"/>
                    <a:pt x="0" y="558771"/>
                    <a:pt x="0" y="515255"/>
                  </a:cubicBezTo>
                  <a:lnTo>
                    <a:pt x="0" y="78792"/>
                  </a:lnTo>
                  <a:cubicBezTo>
                    <a:pt x="0" y="35276"/>
                    <a:pt x="35276" y="0"/>
                    <a:pt x="78792" y="0"/>
                  </a:cubicBezTo>
                  <a:close/>
                </a:path>
              </a:pathLst>
            </a:custGeom>
            <a:solidFill>
              <a:srgbClr val="86B9F5"/>
            </a:solidFill>
            <a:ln w="3810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5879" cy="632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807860" y="7866870"/>
            <a:ext cx="2162169" cy="914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903510" y="3961882"/>
            <a:ext cx="5822799" cy="5000496"/>
          </a:xfrm>
          <a:custGeom>
            <a:avLst/>
            <a:gdLst/>
            <a:ahLst/>
            <a:cxnLst/>
            <a:rect r="r" b="b" t="t" l="l"/>
            <a:pathLst>
              <a:path h="5000496" w="5822799">
                <a:moveTo>
                  <a:pt x="0" y="0"/>
                </a:moveTo>
                <a:lnTo>
                  <a:pt x="5822800" y="0"/>
                </a:lnTo>
                <a:lnTo>
                  <a:pt x="5822800" y="5000495"/>
                </a:lnTo>
                <a:lnTo>
                  <a:pt x="0" y="5000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C8C8C8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054441" y="3961882"/>
            <a:ext cx="5822799" cy="5000496"/>
          </a:xfrm>
          <a:custGeom>
            <a:avLst/>
            <a:gdLst/>
            <a:ahLst/>
            <a:cxnLst/>
            <a:rect r="r" b="b" t="t" l="l"/>
            <a:pathLst>
              <a:path h="5000496" w="5822799">
                <a:moveTo>
                  <a:pt x="0" y="0"/>
                </a:moveTo>
                <a:lnTo>
                  <a:pt x="5822799" y="0"/>
                </a:lnTo>
                <a:lnTo>
                  <a:pt x="5822799" y="5000495"/>
                </a:lnTo>
                <a:lnTo>
                  <a:pt x="0" y="5000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C8C8C8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3580320" y="1035170"/>
            <a:ext cx="11438791" cy="190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8000" spc="-48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Kebijakan Institusi &amp; Kesehatan Mental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56750" y="2863971"/>
            <a:ext cx="10174501" cy="77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</a:t>
            </a: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ebijakan melarang AI secara mutlak (Strict Ban) justru menjadi bumerang psikologis. Strictban memicu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7860" y="7934781"/>
            <a:ext cx="2534630" cy="72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Popul</a:t>
            </a:r>
            <a:r>
              <a:rPr lang="en-US" sz="2000" spc="-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asi High Burnout mendominasi (&gt;25%).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3498" y="7371914"/>
            <a:ext cx="2628992" cy="41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1"/>
              </a:lnSpc>
            </a:pPr>
            <a:r>
              <a:rPr lang="en-US" b="true" sz="3290" spc="-19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51" r="-35710" b="-571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2257426"/>
            <a:ext cx="11301259" cy="4774782"/>
          </a:xfrm>
          <a:custGeom>
            <a:avLst/>
            <a:gdLst/>
            <a:ahLst/>
            <a:cxnLst/>
            <a:rect r="r" b="b" t="t" l="l"/>
            <a:pathLst>
              <a:path h="4774782" w="11301259">
                <a:moveTo>
                  <a:pt x="0" y="0"/>
                </a:moveTo>
                <a:lnTo>
                  <a:pt x="11301258" y="0"/>
                </a:lnTo>
                <a:lnTo>
                  <a:pt x="11301258" y="4774782"/>
                </a:lnTo>
                <a:lnTo>
                  <a:pt x="0" y="477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C8C8C8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57300"/>
            <a:ext cx="9685019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8000" spc="-48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Peta Risiko Kritis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99812" y="2954810"/>
            <a:ext cx="9685019" cy="106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1999" spc="-4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Lorem ipsum dolor sit amet, consectetur adipiscing elit. Quisque molestie nisl eu sem tristique, sit amet convallis ex aliquam. Maecenas varius lectus hendrerit augue blandit, ut posuere erat aliquam.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463275" y="7295366"/>
            <a:ext cx="4518940" cy="2671749"/>
            <a:chOff x="0" y="0"/>
            <a:chExt cx="1719193" cy="10164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19193" cy="1016445"/>
            </a:xfrm>
            <a:custGeom>
              <a:avLst/>
              <a:gdLst/>
              <a:ahLst/>
              <a:cxnLst/>
              <a:rect r="r" b="b" t="t" l="l"/>
              <a:pathLst>
                <a:path h="1016445" w="1719193">
                  <a:moveTo>
                    <a:pt x="54823" y="0"/>
                  </a:moveTo>
                  <a:lnTo>
                    <a:pt x="1664370" y="0"/>
                  </a:lnTo>
                  <a:cubicBezTo>
                    <a:pt x="1678910" y="0"/>
                    <a:pt x="1692854" y="5776"/>
                    <a:pt x="1703136" y="16057"/>
                  </a:cubicBezTo>
                  <a:cubicBezTo>
                    <a:pt x="1713417" y="26339"/>
                    <a:pt x="1719193" y="40283"/>
                    <a:pt x="1719193" y="54823"/>
                  </a:cubicBezTo>
                  <a:lnTo>
                    <a:pt x="1719193" y="961622"/>
                  </a:lnTo>
                  <a:cubicBezTo>
                    <a:pt x="1719193" y="976162"/>
                    <a:pt x="1713417" y="990106"/>
                    <a:pt x="1703136" y="1000387"/>
                  </a:cubicBezTo>
                  <a:cubicBezTo>
                    <a:pt x="1692854" y="1010669"/>
                    <a:pt x="1678910" y="1016445"/>
                    <a:pt x="1664370" y="1016445"/>
                  </a:cubicBezTo>
                  <a:lnTo>
                    <a:pt x="54823" y="1016445"/>
                  </a:lnTo>
                  <a:cubicBezTo>
                    <a:pt x="40283" y="1016445"/>
                    <a:pt x="26339" y="1010669"/>
                    <a:pt x="16057" y="1000387"/>
                  </a:cubicBezTo>
                  <a:cubicBezTo>
                    <a:pt x="5776" y="990106"/>
                    <a:pt x="0" y="976162"/>
                    <a:pt x="0" y="961622"/>
                  </a:cubicBezTo>
                  <a:lnTo>
                    <a:pt x="0" y="54823"/>
                  </a:lnTo>
                  <a:cubicBezTo>
                    <a:pt x="0" y="40283"/>
                    <a:pt x="5776" y="26339"/>
                    <a:pt x="16057" y="16057"/>
                  </a:cubicBezTo>
                  <a:cubicBezTo>
                    <a:pt x="26339" y="5776"/>
                    <a:pt x="40283" y="0"/>
                    <a:pt x="54823" y="0"/>
                  </a:cubicBezTo>
                  <a:close/>
                </a:path>
              </a:pathLst>
            </a:custGeom>
            <a:solidFill>
              <a:srgbClr val="86B9F5"/>
            </a:solidFill>
            <a:ln w="3810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19193" cy="1054545"/>
            </a:xfrm>
            <a:prstGeom prst="rect">
              <a:avLst/>
            </a:prstGeom>
          </p:spPr>
          <p:txBody>
            <a:bodyPr anchor="ctr" rtlCol="false" tIns="46439" lIns="46439" bIns="46439" rIns="464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4998577" y="8027213"/>
            <a:ext cx="3107474" cy="692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998577" y="8069673"/>
            <a:ext cx="3642775" cy="174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00" spc="-4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mahas</a:t>
            </a:r>
            <a:r>
              <a:rPr lang="en-US" sz="1700" spc="-4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iswa dengan kombinasi Heavy User (&gt;15 jam/minggu) dan tingkat Ketergantungan AI tinggi (skor &gt; 3,5) → High Burnout dan sangat berpotensi mengalami kegagalan akademik serta krisis mental.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62959" y="7654143"/>
            <a:ext cx="3778393" cy="31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3"/>
              </a:lnSpc>
            </a:pPr>
            <a:r>
              <a:rPr lang="en-US" b="true" sz="2492" spc="-1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Zona Kritis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05785" y="7295366"/>
            <a:ext cx="4518940" cy="2520938"/>
            <a:chOff x="0" y="0"/>
            <a:chExt cx="1719193" cy="959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9193" cy="959070"/>
            </a:xfrm>
            <a:custGeom>
              <a:avLst/>
              <a:gdLst/>
              <a:ahLst/>
              <a:cxnLst/>
              <a:rect r="r" b="b" t="t" l="l"/>
              <a:pathLst>
                <a:path h="959070" w="1719193">
                  <a:moveTo>
                    <a:pt x="54823" y="0"/>
                  </a:moveTo>
                  <a:lnTo>
                    <a:pt x="1664370" y="0"/>
                  </a:lnTo>
                  <a:cubicBezTo>
                    <a:pt x="1678910" y="0"/>
                    <a:pt x="1692854" y="5776"/>
                    <a:pt x="1703136" y="16057"/>
                  </a:cubicBezTo>
                  <a:cubicBezTo>
                    <a:pt x="1713417" y="26339"/>
                    <a:pt x="1719193" y="40283"/>
                    <a:pt x="1719193" y="54823"/>
                  </a:cubicBezTo>
                  <a:lnTo>
                    <a:pt x="1719193" y="904247"/>
                  </a:lnTo>
                  <a:cubicBezTo>
                    <a:pt x="1719193" y="918787"/>
                    <a:pt x="1713417" y="932731"/>
                    <a:pt x="1703136" y="943012"/>
                  </a:cubicBezTo>
                  <a:cubicBezTo>
                    <a:pt x="1692854" y="953294"/>
                    <a:pt x="1678910" y="959070"/>
                    <a:pt x="1664370" y="959070"/>
                  </a:cubicBezTo>
                  <a:lnTo>
                    <a:pt x="54823" y="959070"/>
                  </a:lnTo>
                  <a:cubicBezTo>
                    <a:pt x="24545" y="959070"/>
                    <a:pt x="0" y="934525"/>
                    <a:pt x="0" y="904247"/>
                  </a:cubicBezTo>
                  <a:lnTo>
                    <a:pt x="0" y="54823"/>
                  </a:lnTo>
                  <a:cubicBezTo>
                    <a:pt x="0" y="40283"/>
                    <a:pt x="5776" y="26339"/>
                    <a:pt x="16057" y="16057"/>
                  </a:cubicBezTo>
                  <a:cubicBezTo>
                    <a:pt x="26339" y="5776"/>
                    <a:pt x="40283" y="0"/>
                    <a:pt x="54823" y="0"/>
                  </a:cubicBezTo>
                  <a:close/>
                </a:path>
              </a:pathLst>
            </a:custGeom>
            <a:solidFill>
              <a:srgbClr val="86B9F5"/>
            </a:solidFill>
            <a:ln w="3810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19193" cy="997170"/>
            </a:xfrm>
            <a:prstGeom prst="rect">
              <a:avLst/>
            </a:prstGeom>
          </p:spPr>
          <p:txBody>
            <a:bodyPr anchor="ctr" rtlCol="false" tIns="46439" lIns="46439" bIns="46439" rIns="464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841086" y="8027213"/>
            <a:ext cx="3107474" cy="692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841086" y="8069673"/>
            <a:ext cx="3642775" cy="15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Segmen Light</a:t>
            </a:r>
            <a:r>
              <a:rPr lang="en-US" sz="1800" spc="-4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dan Moderate User terbukti memiliki skor ketergantungan AI yang masih terkendali (skor 2,0 – 4,0)  → Mayoritas Low-Medium Burnout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5469" y="7654143"/>
            <a:ext cx="3778393" cy="31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3"/>
              </a:lnSpc>
            </a:pPr>
            <a:r>
              <a:rPr lang="en-US" b="true" sz="2492" spc="-14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Zona Aman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t="0" r="-17246" b="-60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22096"/>
            <a:ext cx="7407733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4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Actionable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2255" y="4684524"/>
            <a:ext cx="7120623" cy="312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19"/>
              </a:lnSpc>
              <a:buFont typeface="Arial"/>
              <a:buChar char="•"/>
            </a:pPr>
            <a:r>
              <a:rPr lang="en-US" b="true" sz="1999" spc="-4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</a:t>
            </a:r>
            <a:r>
              <a:rPr lang="en-US" b="true" sz="1999" spc="-4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ransisi ke Guided Integration: </a:t>
            </a:r>
            <a:r>
              <a:rPr lang="en-US" sz="1999" spc="-4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Tinggalkan pelarangan keras (Strict Ban). Rumuskan silabus literasi AI dengan batas ideal 10-15 jam/minggu.</a:t>
            </a:r>
          </a:p>
          <a:p>
            <a:pPr algn="l" marL="431799" indent="-215899" lvl="1">
              <a:lnSpc>
                <a:spcPts val="2719"/>
              </a:lnSpc>
              <a:buFont typeface="Arial"/>
              <a:buChar char="•"/>
            </a:pPr>
            <a:r>
              <a:rPr lang="en-US" b="true" sz="1999" spc="-4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Targeted Counseling:</a:t>
            </a:r>
            <a:r>
              <a:rPr lang="en-US" sz="1999" spc="-4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Manfaatkan data prediktif untuk BK kampus. Prioritaskan pendampingan bagi mahasiswa di "Zona Risiko Kritis".</a:t>
            </a:r>
          </a:p>
          <a:p>
            <a:pPr algn="l" marL="431799" indent="-215899" lvl="1">
              <a:lnSpc>
                <a:spcPts val="2719"/>
              </a:lnSpc>
              <a:buFont typeface="Arial"/>
              <a:buChar char="•"/>
            </a:pPr>
            <a:r>
              <a:rPr lang="en-US" b="true" sz="1999" spc="-4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Restrukturisasi Evaluasi:</a:t>
            </a:r>
            <a:r>
              <a:rPr lang="en-US" sz="1999" spc="-4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Tingkatkan porsi evaluasi sinkronus (ujian lisan, studi kasus lab) sebesar 40% untuk mencegah penurunan skill retention.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416028"/>
            <a:ext cx="7675277" cy="3632840"/>
            <a:chOff x="0" y="0"/>
            <a:chExt cx="2865086" cy="1356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65086" cy="1356094"/>
            </a:xfrm>
            <a:custGeom>
              <a:avLst/>
              <a:gdLst/>
              <a:ahLst/>
              <a:cxnLst/>
              <a:rect r="r" b="b" t="t" l="l"/>
              <a:pathLst>
                <a:path h="1356094" w="2865086">
                  <a:moveTo>
                    <a:pt x="33287" y="0"/>
                  </a:moveTo>
                  <a:lnTo>
                    <a:pt x="2831799" y="0"/>
                  </a:lnTo>
                  <a:cubicBezTo>
                    <a:pt x="2840627" y="0"/>
                    <a:pt x="2849094" y="3507"/>
                    <a:pt x="2855336" y="9749"/>
                  </a:cubicBezTo>
                  <a:cubicBezTo>
                    <a:pt x="2861579" y="15992"/>
                    <a:pt x="2865086" y="24458"/>
                    <a:pt x="2865086" y="33287"/>
                  </a:cubicBezTo>
                  <a:lnTo>
                    <a:pt x="2865086" y="1322808"/>
                  </a:lnTo>
                  <a:cubicBezTo>
                    <a:pt x="2865086" y="1341191"/>
                    <a:pt x="2850183" y="1356094"/>
                    <a:pt x="2831799" y="1356094"/>
                  </a:cubicBezTo>
                  <a:lnTo>
                    <a:pt x="33287" y="1356094"/>
                  </a:lnTo>
                  <a:cubicBezTo>
                    <a:pt x="24458" y="1356094"/>
                    <a:pt x="15992" y="1352587"/>
                    <a:pt x="9749" y="1346345"/>
                  </a:cubicBezTo>
                  <a:cubicBezTo>
                    <a:pt x="3507" y="1340102"/>
                    <a:pt x="0" y="1331636"/>
                    <a:pt x="0" y="1322808"/>
                  </a:cubicBezTo>
                  <a:lnTo>
                    <a:pt x="0" y="33287"/>
                  </a:lnTo>
                  <a:cubicBezTo>
                    <a:pt x="0" y="24458"/>
                    <a:pt x="3507" y="15992"/>
                    <a:pt x="9749" y="9749"/>
                  </a:cubicBezTo>
                  <a:cubicBezTo>
                    <a:pt x="15992" y="3507"/>
                    <a:pt x="24458" y="0"/>
                    <a:pt x="33287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65086" cy="1394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559101" y="4927945"/>
            <a:ext cx="740773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b="true" sz="5000" spc="-3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Live Dashboard: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367714" y="5556596"/>
            <a:ext cx="5422097" cy="1531650"/>
            <a:chOff x="0" y="0"/>
            <a:chExt cx="7229463" cy="2042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229463" cy="2042200"/>
              <a:chOff x="0" y="0"/>
              <a:chExt cx="2062792" cy="58270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62792" cy="582703"/>
              </a:xfrm>
              <a:custGeom>
                <a:avLst/>
                <a:gdLst/>
                <a:ahLst/>
                <a:cxnLst/>
                <a:rect r="r" b="b" t="t" l="l"/>
                <a:pathLst>
                  <a:path h="582703" w="2062792">
                    <a:moveTo>
                      <a:pt x="45691" y="0"/>
                    </a:moveTo>
                    <a:lnTo>
                      <a:pt x="2017101" y="0"/>
                    </a:lnTo>
                    <a:cubicBezTo>
                      <a:pt x="2029219" y="0"/>
                      <a:pt x="2040840" y="4814"/>
                      <a:pt x="2049409" y="13383"/>
                    </a:cubicBezTo>
                    <a:cubicBezTo>
                      <a:pt x="2057978" y="21951"/>
                      <a:pt x="2062792" y="33573"/>
                      <a:pt x="2062792" y="45691"/>
                    </a:cubicBezTo>
                    <a:lnTo>
                      <a:pt x="2062792" y="537012"/>
                    </a:lnTo>
                    <a:cubicBezTo>
                      <a:pt x="2062792" y="549130"/>
                      <a:pt x="2057978" y="560752"/>
                      <a:pt x="2049409" y="569321"/>
                    </a:cubicBezTo>
                    <a:cubicBezTo>
                      <a:pt x="2040840" y="577889"/>
                      <a:pt x="2029219" y="582703"/>
                      <a:pt x="2017101" y="582703"/>
                    </a:cubicBezTo>
                    <a:lnTo>
                      <a:pt x="45691" y="582703"/>
                    </a:lnTo>
                    <a:cubicBezTo>
                      <a:pt x="33573" y="582703"/>
                      <a:pt x="21951" y="577889"/>
                      <a:pt x="13383" y="569321"/>
                    </a:cubicBezTo>
                    <a:cubicBezTo>
                      <a:pt x="4814" y="560752"/>
                      <a:pt x="0" y="549130"/>
                      <a:pt x="0" y="537012"/>
                    </a:cubicBezTo>
                    <a:lnTo>
                      <a:pt x="0" y="45691"/>
                    </a:lnTo>
                    <a:cubicBezTo>
                      <a:pt x="0" y="33573"/>
                      <a:pt x="4814" y="21951"/>
                      <a:pt x="13383" y="13383"/>
                    </a:cubicBezTo>
                    <a:cubicBezTo>
                      <a:pt x="21951" y="4814"/>
                      <a:pt x="33573" y="0"/>
                      <a:pt x="45691" y="0"/>
                    </a:cubicBezTo>
                    <a:close/>
                  </a:path>
                </a:pathLst>
              </a:custGeom>
              <a:solidFill>
                <a:srgbClr val="86B9F5"/>
              </a:solidFill>
              <a:ln w="3810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62792" cy="620803"/>
              </a:xfrm>
              <a:prstGeom prst="rect">
                <a:avLst/>
              </a:prstGeom>
            </p:spPr>
            <p:txBody>
              <a:bodyPr anchor="ctr" rtlCol="false" tIns="46439" lIns="46439" bIns="46439" rIns="4643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13735" y="335443"/>
              <a:ext cx="6515728" cy="1395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 spc="-75" u="sng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  <a:hlinkClick r:id="rId3" tooltip="https://dampak-aigenerative-mahasiswa.streamlit.app"/>
                </a:rPr>
                <a:t>https://dampak-aigenerative-mahasiswa.streamlit.app/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18463" t="0" r="-17246" b="-60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1065" y="2029428"/>
            <a:ext cx="13541261" cy="360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19"/>
              </a:lnSpc>
            </a:pPr>
            <a:r>
              <a:rPr lang="en-US" b="true" sz="15133" spc="-90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Sekian Terimakasih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835143" y="1028700"/>
            <a:ext cx="2434884" cy="843280"/>
            <a:chOff x="0" y="0"/>
            <a:chExt cx="3246512" cy="112437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246512" cy="1124374"/>
              <a:chOff x="0" y="0"/>
              <a:chExt cx="1614657" cy="55920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14657" cy="559209"/>
              </a:xfrm>
              <a:custGeom>
                <a:avLst/>
                <a:gdLst/>
                <a:ahLst/>
                <a:cxnLst/>
                <a:rect r="r" b="b" t="t" l="l"/>
                <a:pathLst>
                  <a:path h="559209" w="1614657">
                    <a:moveTo>
                      <a:pt x="178983" y="0"/>
                    </a:moveTo>
                    <a:lnTo>
                      <a:pt x="1435674" y="0"/>
                    </a:lnTo>
                    <a:cubicBezTo>
                      <a:pt x="1483143" y="0"/>
                      <a:pt x="1528669" y="18857"/>
                      <a:pt x="1562234" y="52423"/>
                    </a:cubicBezTo>
                    <a:cubicBezTo>
                      <a:pt x="1595800" y="85989"/>
                      <a:pt x="1614657" y="131514"/>
                      <a:pt x="1614657" y="178983"/>
                    </a:cubicBezTo>
                    <a:lnTo>
                      <a:pt x="1614657" y="380226"/>
                    </a:lnTo>
                    <a:cubicBezTo>
                      <a:pt x="1614657" y="479076"/>
                      <a:pt x="1534524" y="559209"/>
                      <a:pt x="1435674" y="559209"/>
                    </a:cubicBezTo>
                    <a:lnTo>
                      <a:pt x="178983" y="559209"/>
                    </a:lnTo>
                    <a:cubicBezTo>
                      <a:pt x="131514" y="559209"/>
                      <a:pt x="85989" y="540352"/>
                      <a:pt x="52423" y="506786"/>
                    </a:cubicBezTo>
                    <a:cubicBezTo>
                      <a:pt x="18857" y="473220"/>
                      <a:pt x="0" y="427695"/>
                      <a:pt x="0" y="380226"/>
                    </a:cubicBezTo>
                    <a:lnTo>
                      <a:pt x="0" y="178983"/>
                    </a:lnTo>
                    <a:cubicBezTo>
                      <a:pt x="0" y="131514"/>
                      <a:pt x="18857" y="85989"/>
                      <a:pt x="52423" y="52423"/>
                    </a:cubicBezTo>
                    <a:cubicBezTo>
                      <a:pt x="85989" y="18857"/>
                      <a:pt x="131514" y="0"/>
                      <a:pt x="1789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614657" cy="597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183112" y="133754"/>
              <a:ext cx="1683500" cy="884370"/>
            </a:xfrm>
            <a:custGeom>
              <a:avLst/>
              <a:gdLst/>
              <a:ahLst/>
              <a:cxnLst/>
              <a:rect r="r" b="b" t="t" l="l"/>
              <a:pathLst>
                <a:path h="884370" w="1683500">
                  <a:moveTo>
                    <a:pt x="0" y="0"/>
                  </a:moveTo>
                  <a:lnTo>
                    <a:pt x="1683500" y="0"/>
                  </a:lnTo>
                  <a:lnTo>
                    <a:pt x="1683500" y="884371"/>
                  </a:lnTo>
                  <a:lnTo>
                    <a:pt x="0" y="884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3615" y="80630"/>
              <a:ext cx="990619" cy="990619"/>
            </a:xfrm>
            <a:custGeom>
              <a:avLst/>
              <a:gdLst/>
              <a:ahLst/>
              <a:cxnLst/>
              <a:rect r="r" b="b" t="t" l="l"/>
              <a:pathLst>
                <a:path h="990619" w="990619">
                  <a:moveTo>
                    <a:pt x="0" y="0"/>
                  </a:moveTo>
                  <a:lnTo>
                    <a:pt x="990620" y="0"/>
                  </a:lnTo>
                  <a:lnTo>
                    <a:pt x="990620" y="990619"/>
                  </a:lnTo>
                  <a:lnTo>
                    <a:pt x="0" y="99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DAHLuUtTj0Q</dc:identifier>
  <dcterms:modified xsi:type="dcterms:W3CDTF">2011-08-01T06:04:30Z</dcterms:modified>
  <cp:revision>1</cp:revision>
  <dc:title>Black Blue and White Modern Startup Pitch Deck Presentation</dc:title>
</cp:coreProperties>
</file>